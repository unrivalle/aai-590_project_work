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B6478"/>
                </a:solidFill>
                <a:latin typeface="Arial"/>
              </a:rPr>
              <a:t>Price with 20-day Moving Average (sample)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solidFill>
              <a:srgbClr val="1E2761"/>
            </a:solidFill>
            <a:ln w="28575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47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  <c:pt idx="12">
                    <c:v>W13</c:v>
                  </c:pt>
                  <c:pt idx="13">
                    <c:v>W14</c:v>
                  </c:pt>
                  <c:pt idx="14">
                    <c:v>W15</c:v>
                  </c:pt>
                  <c:pt idx="15">
                    <c:v>W16</c:v>
                  </c:pt>
                  <c:pt idx="16">
                    <c:v>W17</c:v>
                  </c:pt>
                  <c:pt idx="17">
                    <c:v>W18</c:v>
                  </c:pt>
                  <c:pt idx="18">
                    <c:v>W19</c:v>
                  </c:pt>
                  <c:pt idx="19">
                    <c:v>W20</c:v>
                  </c:pt>
                  <c:pt idx="20">
                    <c:v>W21</c:v>
                  </c:pt>
                  <c:pt idx="21">
                    <c:v>W22</c:v>
                  </c:pt>
                  <c:pt idx="22">
                    <c:v>W23</c:v>
                  </c:pt>
                  <c:pt idx="23">
                    <c:v>W24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182</c:v>
                </c:pt>
                <c:pt idx="1">
                  <c:v>185</c:v>
                </c:pt>
                <c:pt idx="2">
                  <c:v>181</c:v>
                </c:pt>
                <c:pt idx="3">
                  <c:v>188</c:v>
                </c:pt>
                <c:pt idx="4">
                  <c:v>193</c:v>
                </c:pt>
                <c:pt idx="5">
                  <c:v>190</c:v>
                </c:pt>
                <c:pt idx="6">
                  <c:v>196</c:v>
                </c:pt>
                <c:pt idx="7">
                  <c:v>201</c:v>
                </c:pt>
                <c:pt idx="8">
                  <c:v>198</c:v>
                </c:pt>
                <c:pt idx="9">
                  <c:v>205</c:v>
                </c:pt>
                <c:pt idx="10">
                  <c:v>210</c:v>
                </c:pt>
                <c:pt idx="11">
                  <c:v>207</c:v>
                </c:pt>
                <c:pt idx="12">
                  <c:v>213</c:v>
                </c:pt>
                <c:pt idx="13">
                  <c:v>219</c:v>
                </c:pt>
                <c:pt idx="14">
                  <c:v>215</c:v>
                </c:pt>
                <c:pt idx="15">
                  <c:v>221</c:v>
                </c:pt>
                <c:pt idx="16">
                  <c:v>226</c:v>
                </c:pt>
                <c:pt idx="17">
                  <c:v>223</c:v>
                </c:pt>
                <c:pt idx="18">
                  <c:v>229</c:v>
                </c:pt>
                <c:pt idx="19">
                  <c:v>235</c:v>
                </c:pt>
                <c:pt idx="20">
                  <c:v>231</c:v>
                </c:pt>
                <c:pt idx="21">
                  <c:v>238</c:v>
                </c:pt>
                <c:pt idx="22">
                  <c:v>244</c:v>
                </c:pt>
                <c:pt idx="23">
                  <c:v>240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 20</c:v>
                </c:pt>
              </c:strCache>
            </c:strRef>
          </c:tx>
          <c:spPr>
            <a:solidFill>
              <a:srgbClr val="F2B134"/>
            </a:solidFill>
            <a:ln w="28575" cap="flat">
              <a:solidFill>
                <a:srgbClr val="F2B1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5B647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B134"/>
              </a:solidFill>
              <a:ln w="9525" cap="flat">
                <a:solidFill>
                  <a:srgbClr val="F2B1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  <c:pt idx="12">
                    <c:v>W13</c:v>
                  </c:pt>
                  <c:pt idx="13">
                    <c:v>W14</c:v>
                  </c:pt>
                  <c:pt idx="14">
                    <c:v>W15</c:v>
                  </c:pt>
                  <c:pt idx="15">
                    <c:v>W16</c:v>
                  </c:pt>
                  <c:pt idx="16">
                    <c:v>W17</c:v>
                  </c:pt>
                  <c:pt idx="17">
                    <c:v>W18</c:v>
                  </c:pt>
                  <c:pt idx="18">
                    <c:v>W19</c:v>
                  </c:pt>
                  <c:pt idx="19">
                    <c:v>W20</c:v>
                  </c:pt>
                  <c:pt idx="20">
                    <c:v>W21</c:v>
                  </c:pt>
                  <c:pt idx="21">
                    <c:v>W22</c:v>
                  </c:pt>
                  <c:pt idx="22">
                    <c:v>W23</c:v>
                  </c:pt>
                  <c:pt idx="23">
                    <c:v>W24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205</c:v>
                </c:pt>
                <c:pt idx="20">
                  <c:v>208</c:v>
                </c:pt>
                <c:pt idx="21">
                  <c:v>211</c:v>
                </c:pt>
                <c:pt idx="22">
                  <c:v>214</c:v>
                </c:pt>
                <c:pt idx="23">
                  <c:v>217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5B647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image" Target="../media/image-8-2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3291840"/>
            <a:ext cx="4114800" cy="4114800"/>
          </a:xfrm>
          <a:prstGeom prst="ellipse">
            <a:avLst/>
          </a:prstGeom>
          <a:solidFill>
            <a:srgbClr val="28387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AAI-590 CAPSTONE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Investment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Agent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AI pipeline that collects, cleans, and analyzes market, macro, filings, and news data — then generates an investment research report end-to-end.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3072384" cy="384048"/>
          </a:xfrm>
          <a:prstGeom prst="roundRect">
            <a:avLst>
              <a:gd name="adj" fmla="val 50000"/>
            </a:avLst>
          </a:prstGeom>
          <a:solidFill>
            <a:srgbClr val="283874"/>
          </a:solidFill>
          <a:ln w="12700">
            <a:solidFill>
              <a:srgbClr val="3C4E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59936" y="5074920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283874"/>
          </a:solidFill>
          <a:ln w="12700">
            <a:solidFill>
              <a:srgbClr val="3C4E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9936" y="507492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5074920"/>
            <a:ext cx="1261872" cy="384048"/>
          </a:xfrm>
          <a:prstGeom prst="roundRect">
            <a:avLst>
              <a:gd name="adj" fmla="val 50000"/>
            </a:avLst>
          </a:prstGeom>
          <a:solidFill>
            <a:srgbClr val="283874"/>
          </a:solidFill>
          <a:ln w="12700">
            <a:solidFill>
              <a:srgbClr val="3C4E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5074920"/>
            <a:ext cx="1261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18704" y="5074920"/>
            <a:ext cx="1865376" cy="384048"/>
          </a:xfrm>
          <a:prstGeom prst="roundRect">
            <a:avLst>
              <a:gd name="adj" fmla="val 50000"/>
            </a:avLst>
          </a:prstGeom>
          <a:solidFill>
            <a:srgbClr val="283874"/>
          </a:solidFill>
          <a:ln w="12700">
            <a:solidFill>
              <a:srgbClr val="3C4E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5074920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San Diego  |  Shiley-Marcos School of Engineering  |  AAI-590-IN2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Saurav Kumar Subudhi   ·   Jasmeet Kaur   ·   Manasa Sai Karaka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Equity research is manual, slow,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scattered across 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analyst covering one ticker has to pull price history, macro context, SEC filings, and breaking news from four unrelated systems — then manually reconcile and write it up.</a:t>
            </a:r>
            <a:endParaRPr lang="en-US" sz="1400" dirty="0"/>
          </a:p>
        </p:txBody>
      </p:sp>
      <p:pic>
        <p:nvPicPr>
          <p:cNvPr id="5" name="Image 0" descr="/home/claude/pptx_build/icons/warning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2044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4655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60120" y="37947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filings, macro series, and headlines live in four separate systems with no shared schema.</a:t>
            </a:r>
            <a:endParaRPr lang="en-US" sz="1200" dirty="0"/>
          </a:p>
        </p:txBody>
      </p:sp>
      <p:pic>
        <p:nvPicPr>
          <p:cNvPr id="8" name="Image 1" descr="/home/claude/pptx_build/icons/warning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38912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433425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repeatable process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960120" y="46634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analyst cleans and engineers features their own way — nothing is standardized or automated.</a:t>
            </a:r>
            <a:endParaRPr lang="en-US" sz="1200" dirty="0"/>
          </a:p>
        </p:txBody>
      </p:sp>
      <p:pic>
        <p:nvPicPr>
          <p:cNvPr id="11" name="Image 2" descr="/home/claude/pptx_build/icons/warning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5780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520293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turnaround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960120" y="55321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report is compiled by hand, the market context has already moved on.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498080" y="822960"/>
            <a:ext cx="4114800" cy="5212080"/>
          </a:xfrm>
          <a:prstGeom prst="roundRect">
            <a:avLst>
              <a:gd name="adj" fmla="val 2667"/>
            </a:avLst>
          </a:prstGeom>
          <a:solidFill>
            <a:srgbClr val="0E1233"/>
          </a:solidFill>
          <a:ln/>
        </p:spPr>
      </p:sp>
      <p:sp>
        <p:nvSpPr>
          <p:cNvPr id="15" name="Text 10"/>
          <p:cNvSpPr/>
          <p:nvPr/>
        </p:nvSpPr>
        <p:spPr>
          <a:xfrm>
            <a:off x="781812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818120" y="15087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17" name="Text 12"/>
          <p:cNvSpPr/>
          <p:nvPr/>
        </p:nvSpPr>
        <p:spPr>
          <a:xfrm>
            <a:off x="7818120" y="23957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data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per ticker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7818120" y="3246120"/>
            <a:ext cx="3337560" cy="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818120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20" name="Text 15"/>
          <p:cNvSpPr/>
          <p:nvPr/>
        </p:nvSpPr>
        <p:spPr>
          <a:xfrm>
            <a:off x="7818120" y="431596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stages an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 automate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818120" y="5166360"/>
            <a:ext cx="3337560" cy="0"/>
          </a:xfrm>
          <a:prstGeom prst="line">
            <a:avLst/>
          </a:prstGeom>
          <a:noFill/>
          <a:ln w="12700">
            <a:solidFill>
              <a:srgbClr val="2A356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818120" y="53492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one pipeline, one interface, always current.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sources, one unified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build/icons/chart_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Yahoo Finance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OHLCV history + a near-real-time price snapshot via yfinance.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56432" y="169164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76472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build/icons/landma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352" y="21945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 EDGAR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730752" y="3611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10-K/10-Q filings and XBRL financial facts, no API key required.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64224" y="169164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84264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build/icons/chart_b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21945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38544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638544" y="3611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CPI, unemployment, Fed funds rate, treasury yields, consumer sentiment.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272016" y="169164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92056" y="20116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build/icons/newspap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36" y="21945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46336" y="29718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NewsAPI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546336" y="3611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headlines for company-specific news context.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080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new: FRED and SEC EDGAR loaders did not exist in the original codebase — only listed as intended sources.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research report,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six stages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60020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74420" y="2999232"/>
            <a:ext cx="731520" cy="7315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6" name="Image 0" descr="/home/claude/pptx_build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3163824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8404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50" dirty="0"/>
          </a:p>
        </p:txBody>
      </p:sp>
      <p:pic>
        <p:nvPicPr>
          <p:cNvPr id="8" name="Image 1" descr="/home/claude/pptx_build/icons/arrow_righ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456432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59736" y="2743200"/>
            <a:ext cx="160020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2894076" y="2999232"/>
            <a:ext cx="731520" cy="7315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1" name="Image 2" descr="/home/claude/pptx_build/icons/broom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68" y="3163824"/>
            <a:ext cx="402336" cy="4023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505456" y="38404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50" dirty="0"/>
          </a:p>
        </p:txBody>
      </p:sp>
      <p:pic>
        <p:nvPicPr>
          <p:cNvPr id="13" name="Image 3" descr="/home/claude/pptx_build/icons/arrow_righ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224" y="3456432"/>
            <a:ext cx="201168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279392" y="2743200"/>
            <a:ext cx="160020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5" name="Shape 9"/>
          <p:cNvSpPr/>
          <p:nvPr/>
        </p:nvSpPr>
        <p:spPr>
          <a:xfrm>
            <a:off x="4713732" y="2999232"/>
            <a:ext cx="731520" cy="7315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16" name="Image 4" descr="/home/claude/pptx_build/icons/search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8324" y="3163824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25112" y="38404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pic>
        <p:nvPicPr>
          <p:cNvPr id="18" name="Image 5" descr="/home/claude/pptx_build/icons/arrow_right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3456432"/>
            <a:ext cx="201168" cy="20116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099048" y="2743200"/>
            <a:ext cx="160020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0" name="Shape 12"/>
          <p:cNvSpPr/>
          <p:nvPr/>
        </p:nvSpPr>
        <p:spPr>
          <a:xfrm>
            <a:off x="6533388" y="2999232"/>
            <a:ext cx="731520" cy="7315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1" name="Image 6" descr="/home/claude/pptx_build/icons/cogs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980" y="3163824"/>
            <a:ext cx="402336" cy="40233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144768" y="38404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pic>
        <p:nvPicPr>
          <p:cNvPr id="23" name="Image 7" descr="/home/claude/pptx_build/icons/arrow_right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7536" y="3456432"/>
            <a:ext cx="201168" cy="20116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918704" y="2743200"/>
            <a:ext cx="160020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5" name="Shape 15"/>
          <p:cNvSpPr/>
          <p:nvPr/>
        </p:nvSpPr>
        <p:spPr>
          <a:xfrm>
            <a:off x="8353044" y="2999232"/>
            <a:ext cx="731520" cy="7315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26" name="Image 8" descr="/home/claude/pptx_build/icons/project_diagram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7636" y="3163824"/>
            <a:ext cx="402336" cy="40233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964424" y="38404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pic>
        <p:nvPicPr>
          <p:cNvPr id="28" name="Image 9" descr="/home/claude/pptx_build/icons/arrow_right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7192" y="3456432"/>
            <a:ext cx="201168" cy="201168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9738360" y="2743200"/>
            <a:ext cx="160020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30" name="Shape 18"/>
          <p:cNvSpPr/>
          <p:nvPr/>
        </p:nvSpPr>
        <p:spPr>
          <a:xfrm>
            <a:off x="10172700" y="2999232"/>
            <a:ext cx="731520" cy="731520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31" name="Image 10" descr="/home/claude/pptx_build/icons/robot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7292" y="3163824"/>
            <a:ext cx="402336" cy="402336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9784080" y="38404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50" dirty="0"/>
          </a:p>
        </p:txBody>
      </p:sp>
      <p:sp>
        <p:nvSpPr>
          <p:cNvPr id="33" name="Text 20"/>
          <p:cNvSpPr/>
          <p:nvPr/>
        </p:nvSpPr>
        <p:spPr>
          <a:xfrm>
            <a:off x="640080" y="51206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as a LangGraph state machine — each node runs independently and degrades gracefully if an API key is missing, rather than failing the whole run.</a:t>
            </a:r>
            <a:endParaRPr lang="en-US" sz="1300" dirty="0"/>
          </a:p>
        </p:txBody>
      </p:sp>
      <p:sp>
        <p:nvSpPr>
          <p:cNvPr id="34" name="Text 2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1–2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pic>
        <p:nvPicPr>
          <p:cNvPr id="5" name="Image 0" descr="/home/claude/pptx_build/icons/databas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loaders for any ticker/date range (no more hardcoded "AAPL")</a:t>
            </a:r>
            <a:endParaRPr lang="en-US" sz="125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price snapshot via yfinance fast_info</a:t>
            </a:r>
            <a:endParaRPr lang="en-US" sz="125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→ CIK resolution for SEC EDGAR lookups</a:t>
            </a:r>
            <a:endParaRPr lang="en-US" sz="125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key bug fixed — original code never actually read the env var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69164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pic>
        <p:nvPicPr>
          <p:cNvPr id="9" name="Image 1" descr="/home/claude/pptx_build/icons/broom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659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537960" y="251460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 &amp; sort DatetimeIndex; drop fully-empty rows</a:t>
            </a:r>
            <a:endParaRPr lang="en-US" sz="125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short gaps (holiday mismatches), capped at 3 days</a:t>
            </a:r>
            <a:endParaRPr lang="en-US" sz="125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outlier flagging on daily returns — flagged, not silently dropped</a:t>
            </a:r>
            <a:endParaRPr lang="en-US" sz="1250" dirty="0"/>
          </a:p>
          <a:p>
            <a:pPr marL="228600" indent="-228600">
              <a:lnSpc>
                <a:spcPts val="17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series resampled to daily and forward-filled for alignment with price data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3–4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&amp; Feature Engineering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6492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price/volume charts, return-distribution histograms, and descriptive statistics rendered live per ticker.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269480" y="1600200"/>
            <a:ext cx="4343400" cy="443484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2286000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7"/>
          <p:cNvSpPr/>
          <p:nvPr/>
        </p:nvSpPr>
        <p:spPr>
          <a:xfrm>
            <a:off x="7818120" y="2167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/ EMA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18120" y="24140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 20, 50, 200-day windows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2852928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2734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(14)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18120" y="29809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overbought / oversold signal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589520" y="3419856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3"/>
          <p:cNvSpPr/>
          <p:nvPr/>
        </p:nvSpPr>
        <p:spPr>
          <a:xfrm>
            <a:off x="7818120" y="3300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18120" y="3547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+ momentum crossover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589520" y="3986784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Text 16"/>
          <p:cNvSpPr/>
          <p:nvPr/>
        </p:nvSpPr>
        <p:spPr>
          <a:xfrm>
            <a:off x="7818120" y="38679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 Bands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81812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20-day, 2σ envelope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589520" y="4553712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2" name="Text 19"/>
          <p:cNvSpPr/>
          <p:nvPr/>
        </p:nvSpPr>
        <p:spPr>
          <a:xfrm>
            <a:off x="7818120" y="4434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7818120" y="46817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annualized, 10/20/30-day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89520" y="5120640"/>
            <a:ext cx="109728" cy="109728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5" name="Text 22"/>
          <p:cNvSpPr/>
          <p:nvPr/>
        </p:nvSpPr>
        <p:spPr>
          <a:xfrm>
            <a:off x="7818120" y="5001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818120" y="52486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returns for modeling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 and stock-vs-macro correlation, computed on demand for any basket.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199339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99339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680" y="199339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99339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2377440"/>
            <a:ext cx="813816" cy="81381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37744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2377440"/>
            <a:ext cx="813816" cy="813816"/>
          </a:xfrm>
          <a:prstGeom prst="rect">
            <a:avLst/>
          </a:prstGeom>
          <a:solidFill>
            <a:srgbClr val="A4B4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37744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2377440"/>
            <a:ext cx="813816" cy="813816"/>
          </a:xfrm>
          <a:prstGeom prst="rect">
            <a:avLst/>
          </a:prstGeom>
          <a:solidFill>
            <a:srgbClr val="98A8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237744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23360" y="2377440"/>
            <a:ext cx="813816" cy="813816"/>
          </a:xfrm>
          <a:prstGeom prst="rect">
            <a:avLst/>
          </a:prstGeom>
          <a:solidFill>
            <a:srgbClr val="8E9DC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37744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461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17320" y="3246120"/>
            <a:ext cx="813816" cy="813816"/>
          </a:xfrm>
          <a:prstGeom prst="rect">
            <a:avLst/>
          </a:prstGeom>
          <a:solidFill>
            <a:srgbClr val="A4B4D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324612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3246120"/>
            <a:ext cx="813816" cy="81381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324612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54680" y="3246120"/>
            <a:ext cx="813816" cy="813816"/>
          </a:xfrm>
          <a:prstGeom prst="rect">
            <a:avLst/>
          </a:prstGeom>
          <a:solidFill>
            <a:srgbClr val="9DAD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324612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23360" y="3246120"/>
            <a:ext cx="813816" cy="813816"/>
          </a:xfrm>
          <a:prstGeom prst="rect">
            <a:avLst/>
          </a:prstGeom>
          <a:solidFill>
            <a:srgbClr val="95A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24612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417320" y="4114800"/>
            <a:ext cx="813816" cy="813816"/>
          </a:xfrm>
          <a:prstGeom prst="rect">
            <a:avLst/>
          </a:prstGeom>
          <a:solidFill>
            <a:srgbClr val="98A8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411480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4114800"/>
            <a:ext cx="813816" cy="813816"/>
          </a:xfrm>
          <a:prstGeom prst="rect">
            <a:avLst/>
          </a:prstGeom>
          <a:solidFill>
            <a:srgbClr val="9DAD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411480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54680" y="4114800"/>
            <a:ext cx="813816" cy="81381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54680" y="411480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23360" y="4114800"/>
            <a:ext cx="813816" cy="813816"/>
          </a:xfrm>
          <a:prstGeom prst="rect">
            <a:avLst/>
          </a:prstGeom>
          <a:solidFill>
            <a:srgbClr val="9AA9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411480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98348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17320" y="4983480"/>
            <a:ext cx="813816" cy="813816"/>
          </a:xfrm>
          <a:prstGeom prst="rect">
            <a:avLst/>
          </a:prstGeom>
          <a:solidFill>
            <a:srgbClr val="8E9DC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7320" y="498348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0" y="4983480"/>
            <a:ext cx="813816" cy="813816"/>
          </a:xfrm>
          <a:prstGeom prst="rect">
            <a:avLst/>
          </a:prstGeom>
          <a:solidFill>
            <a:srgbClr val="95A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498348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154680" y="4983480"/>
            <a:ext cx="813816" cy="813816"/>
          </a:xfrm>
          <a:prstGeom prst="rect">
            <a:avLst/>
          </a:prstGeom>
          <a:solidFill>
            <a:srgbClr val="9AA9D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498348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023360" y="4983480"/>
            <a:ext cx="813816" cy="813816"/>
          </a:xfrm>
          <a:prstGeom prst="rect">
            <a:avLst/>
          </a:prstGeom>
          <a:solidFill>
            <a:srgbClr val="CAD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0" y="4983480"/>
            <a:ext cx="813816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daily-return correlation matrix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32120" y="2377440"/>
            <a:ext cx="6080760" cy="3657600"/>
          </a:xfrm>
          <a:prstGeom prst="roundRect">
            <a:avLst>
              <a:gd name="adj" fmla="val 2500"/>
            </a:avLst>
          </a:prstGeom>
          <a:solidFill>
            <a:srgbClr val="1E2761"/>
          </a:solidFill>
          <a:ln/>
        </p:spPr>
      </p:sp>
      <p:pic>
        <p:nvPicPr>
          <p:cNvPr id="47" name="Image 0" descr="/home/claude/pptx_build/icons/project_diagram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651760"/>
            <a:ext cx="365760" cy="36576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6355080" y="2606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correlates price action against macro indicators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85216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10-Yr Treasury Yield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9006840" y="3410712"/>
            <a:ext cx="18288" cy="219456"/>
          </a:xfrm>
          <a:prstGeom prst="rect">
            <a:avLst/>
          </a:prstGeom>
          <a:solidFill>
            <a:srgbClr val="3C4E9C"/>
          </a:solidFill>
          <a:ln/>
        </p:spPr>
      </p:sp>
      <p:sp>
        <p:nvSpPr>
          <p:cNvPr id="51" name="Shape 48"/>
          <p:cNvSpPr/>
          <p:nvPr/>
        </p:nvSpPr>
        <p:spPr>
          <a:xfrm>
            <a:off x="8008315" y="3410712"/>
            <a:ext cx="998525" cy="21945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2" name="Text 49"/>
          <p:cNvSpPr/>
          <p:nvPr/>
        </p:nvSpPr>
        <p:spPr>
          <a:xfrm>
            <a:off x="11018520" y="3337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-0.42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5852160" y="3886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Funds Rate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9006840" y="3959352"/>
            <a:ext cx="18288" cy="219456"/>
          </a:xfrm>
          <a:prstGeom prst="rect">
            <a:avLst/>
          </a:prstGeom>
          <a:solidFill>
            <a:srgbClr val="3C4E9C"/>
          </a:solidFill>
          <a:ln/>
        </p:spPr>
      </p:sp>
      <p:sp>
        <p:nvSpPr>
          <p:cNvPr id="55" name="Shape 52"/>
          <p:cNvSpPr/>
          <p:nvPr/>
        </p:nvSpPr>
        <p:spPr>
          <a:xfrm>
            <a:off x="8174736" y="3959352"/>
            <a:ext cx="832104" cy="21945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6" name="Text 53"/>
          <p:cNvSpPr/>
          <p:nvPr/>
        </p:nvSpPr>
        <p:spPr>
          <a:xfrm>
            <a:off x="11018520" y="388620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-0.35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585216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(Inflation)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006840" y="4507992"/>
            <a:ext cx="18288" cy="219456"/>
          </a:xfrm>
          <a:prstGeom prst="rect">
            <a:avLst/>
          </a:prstGeom>
          <a:solidFill>
            <a:srgbClr val="3C4E9C"/>
          </a:solidFill>
          <a:ln/>
        </p:spPr>
      </p:sp>
      <p:sp>
        <p:nvSpPr>
          <p:cNvPr id="59" name="Shape 56"/>
          <p:cNvSpPr/>
          <p:nvPr/>
        </p:nvSpPr>
        <p:spPr>
          <a:xfrm>
            <a:off x="8578901" y="4507992"/>
            <a:ext cx="427939" cy="21945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0" name="Text 57"/>
          <p:cNvSpPr/>
          <p:nvPr/>
        </p:nvSpPr>
        <p:spPr>
          <a:xfrm>
            <a:off x="11018520" y="44348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-0.18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585216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Sentiment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9006840" y="5056632"/>
            <a:ext cx="18288" cy="219456"/>
          </a:xfrm>
          <a:prstGeom prst="rect">
            <a:avLst/>
          </a:prstGeom>
          <a:solidFill>
            <a:srgbClr val="3C4E9C"/>
          </a:solidFill>
          <a:ln/>
        </p:spPr>
      </p:sp>
      <p:sp>
        <p:nvSpPr>
          <p:cNvPr id="63" name="Shape 60"/>
          <p:cNvSpPr/>
          <p:nvPr/>
        </p:nvSpPr>
        <p:spPr>
          <a:xfrm>
            <a:off x="9006840" y="5056632"/>
            <a:ext cx="737006" cy="21945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4" name="Text 61"/>
          <p:cNvSpPr/>
          <p:nvPr/>
        </p:nvSpPr>
        <p:spPr>
          <a:xfrm>
            <a:off x="11018520" y="4983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1100" dirty="0"/>
          </a:p>
        </p:txBody>
      </p:sp>
      <p:sp>
        <p:nvSpPr>
          <p:cNvPr id="65" name="Text 62"/>
          <p:cNvSpPr/>
          <p:nvPr/>
        </p:nvSpPr>
        <p:spPr>
          <a:xfrm>
            <a:off x="5852160" y="5532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Rate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9006840" y="5605272"/>
            <a:ext cx="18288" cy="219456"/>
          </a:xfrm>
          <a:prstGeom prst="rect">
            <a:avLst/>
          </a:prstGeom>
          <a:solidFill>
            <a:srgbClr val="3C4E9C"/>
          </a:solidFill>
          <a:ln/>
        </p:spPr>
      </p:sp>
      <p:sp>
        <p:nvSpPr>
          <p:cNvPr id="67" name="Shape 64"/>
          <p:cNvSpPr/>
          <p:nvPr/>
        </p:nvSpPr>
        <p:spPr>
          <a:xfrm>
            <a:off x="8364931" y="5605272"/>
            <a:ext cx="641909" cy="21945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8" name="Text 65"/>
          <p:cNvSpPr/>
          <p:nvPr/>
        </p:nvSpPr>
        <p:spPr>
          <a:xfrm>
            <a:off x="11018520" y="55321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-0.27</a:t>
            </a:r>
            <a:endParaRPr lang="en-US" sz="1100" dirty="0"/>
          </a:p>
        </p:txBody>
      </p:sp>
      <p:sp>
        <p:nvSpPr>
          <p:cNvPr id="69" name="Text 6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AI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state machine chains five specialized agents into one research report.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build/icons/chart_li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252374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1089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Agent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352044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RSI momentum, and volatility read from the engineered feature matrix.</a:t>
            </a:r>
            <a:endParaRPr lang="en-US" sz="1050" dirty="0"/>
          </a:p>
        </p:txBody>
      </p:sp>
      <p:pic>
        <p:nvPicPr>
          <p:cNvPr id="10" name="Image 1" descr="/home/claude/pptx_build/icons/arrow_right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44" y="3794760"/>
            <a:ext cx="128016" cy="1280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61488" y="21031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11296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pptx_build/icons/newspap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52374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98648" y="31089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Agent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926080" y="352044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recent headlines; degrades to a clear message if no key is set.</a:t>
            </a:r>
            <a:endParaRPr lang="en-US" sz="1050" dirty="0"/>
          </a:p>
        </p:txBody>
      </p:sp>
      <p:pic>
        <p:nvPicPr>
          <p:cNvPr id="16" name="Image 3" descr="/home/claude/pptx_build/icons/arrow_right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892" y="3794760"/>
            <a:ext cx="128016" cy="12801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974336" y="21031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724144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4" descr="/home/claude/pptx_build/icons/chart_ba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2523744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11496" y="31089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Agent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138928" y="352044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FRED readings — rates, inflation, sentiment — for market backdrop.</a:t>
            </a:r>
            <a:endParaRPr lang="en-US" sz="1050" dirty="0"/>
          </a:p>
        </p:txBody>
      </p:sp>
      <p:pic>
        <p:nvPicPr>
          <p:cNvPr id="22" name="Image 5" descr="/home/claude/pptx_build/icons/arrow_right_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3740" y="3794760"/>
            <a:ext cx="128016" cy="12801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187184" y="21031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936992" y="23774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/home/claude/pptx_build/icons/landmar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2523744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324344" y="31089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Agent</a:t>
            </a:r>
            <a:endParaRPr lang="en-US" sz="1350" dirty="0"/>
          </a:p>
        </p:txBody>
      </p:sp>
      <p:sp>
        <p:nvSpPr>
          <p:cNvPr id="27" name="Text 18"/>
          <p:cNvSpPr/>
          <p:nvPr/>
        </p:nvSpPr>
        <p:spPr>
          <a:xfrm>
            <a:off x="7351776" y="352044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filing + key XBRL facts (revenue, net income, assets).</a:t>
            </a:r>
            <a:endParaRPr lang="en-US" sz="1050" dirty="0"/>
          </a:p>
        </p:txBody>
      </p:sp>
      <p:pic>
        <p:nvPicPr>
          <p:cNvPr id="28" name="Image 7" descr="/home/claude/pptx_build/icons/arrow_right_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6588" y="3794760"/>
            <a:ext cx="128016" cy="128016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400032" y="21031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10149840" y="2377440"/>
            <a:ext cx="585216" cy="585216"/>
          </a:xfrm>
          <a:prstGeom prst="ellipse">
            <a:avLst/>
          </a:prstGeom>
          <a:solidFill>
            <a:srgbClr val="F2B134"/>
          </a:solidFill>
          <a:ln/>
        </p:spPr>
      </p:sp>
      <p:pic>
        <p:nvPicPr>
          <p:cNvPr id="31" name="Image 8" descr="/home/claude/pptx_build/icons/comment_dots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6144" y="2523744"/>
            <a:ext cx="292608" cy="29260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537192" y="31089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1350" dirty="0"/>
          </a:p>
        </p:txBody>
      </p:sp>
      <p:sp>
        <p:nvSpPr>
          <p:cNvPr id="33" name="Text 22"/>
          <p:cNvSpPr/>
          <p:nvPr/>
        </p:nvSpPr>
        <p:spPr>
          <a:xfrm>
            <a:off x="9564624" y="352044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Synthesizes all four into one report — optionally narrated by Claude.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CF3E0"/>
          </a:solidFill>
          <a:ln/>
        </p:spPr>
      </p:sp>
      <p:pic>
        <p:nvPicPr>
          <p:cNvPr id="35" name="Image 9" descr="/home/claude/pptx_build/icons/bolt_amb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989320"/>
            <a:ext cx="274320" cy="27432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1188720" y="58521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try/excepts independently — a missing NewsAPI or FRED key degrades one node, not the whole report.</a:t>
            </a:r>
            <a:endParaRPr lang="en-US" sz="1200" dirty="0"/>
          </a:p>
        </p:txBody>
      </p:sp>
      <p:sp>
        <p:nvSpPr>
          <p:cNvPr id="37" name="Text 2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Streamlit app, seven tabs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above is wired into a single interactive frontend — no notebooks, no CLI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83874"/>
          </a:solidFill>
          <a:ln/>
        </p:spPr>
      </p:sp>
      <p:pic>
        <p:nvPicPr>
          <p:cNvPr id="6" name="Image 0" descr="/home/claude/pptx_build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500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2951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Quote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77063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Auto-refreshing price snapshot via st.fragment(run_every=...)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51960" y="2148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83874"/>
          </a:solidFill>
          <a:ln/>
        </p:spPr>
      </p:sp>
      <p:pic>
        <p:nvPicPr>
          <p:cNvPr id="10" name="Image 1" descr="/home/claude/pptx_build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3500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22951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453128" y="277063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Yahoo Finance, FRED, SEC, and NewsAPI pulls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955280" y="21488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83874"/>
          </a:solidFill>
          <a:ln/>
        </p:spPr>
      </p:sp>
      <p:pic>
        <p:nvPicPr>
          <p:cNvPr id="14" name="Image 2" descr="/home/claude/pptx_build/icons/bro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448" y="23500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49640" y="22951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156448" y="277063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view + outlier &amp; null report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3749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83874"/>
          </a:solidFill>
          <a:ln/>
        </p:spPr>
      </p:sp>
      <p:pic>
        <p:nvPicPr>
          <p:cNvPr id="18" name="Image 3" descr="/home/claude/pptx_build/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5020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8953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49808" y="437083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Candlesticks, volume, return distributions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251960" y="3749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83874"/>
          </a:solidFill>
          <a:ln/>
        </p:spPr>
      </p:sp>
      <p:pic>
        <p:nvPicPr>
          <p:cNvPr id="22" name="Image 4" descr="/home/claude/pptx_build/icons/cog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950208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46320" y="38953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453128" y="437083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indicator charts + CSV export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7955280" y="3749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83874"/>
          </a:solidFill>
          <a:ln/>
        </p:spPr>
      </p:sp>
      <p:pic>
        <p:nvPicPr>
          <p:cNvPr id="26" name="Image 5" descr="/home/claude/pptx_build/icons/project_diagram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3950208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49640" y="38953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156448" y="437083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 &amp; macro heatmaps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48640" y="53492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283874"/>
          </a:solidFill>
          <a:ln/>
        </p:spPr>
      </p:sp>
      <p:pic>
        <p:nvPicPr>
          <p:cNvPr id="30" name="Image 6" descr="/home/claude/pptx_build/icons/robo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550408"/>
            <a:ext cx="292608" cy="29260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43000" y="549554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Report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749808" y="597103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pipeline run + downloadable report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run on real AAPL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deployed and pulled live Yahoo Finance data end-to-end — EDA candlestick chart and a completed multi-agent report run, both shown below unedited.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806440" cy="3200400"/>
          </a:xfrm>
          <a:prstGeom prst="roundRect">
            <a:avLst>
              <a:gd name="adj" fmla="val 1714"/>
            </a:avLst>
          </a:prstGeom>
          <a:solidFill>
            <a:srgbClr val="0E123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mnt/user-data/uploads/178629726715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29968"/>
            <a:ext cx="5678424" cy="3072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23036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tab — live AAPL candlestick + volume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92240" y="1965960"/>
            <a:ext cx="5193792" cy="2468880"/>
          </a:xfrm>
          <a:prstGeom prst="roundRect">
            <a:avLst>
              <a:gd name="adj" fmla="val 2222"/>
            </a:avLst>
          </a:prstGeom>
          <a:solidFill>
            <a:srgbClr val="0E1233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1" descr="/mnt/user-data/uploads/1786297294408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029968"/>
            <a:ext cx="5065776" cy="23408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92240" y="4526280"/>
            <a:ext cx="5193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Report tab — pipeline completed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92240" y="4892040"/>
            <a:ext cx="1252728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92240" y="4956048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$313.33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5367528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Close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790688" y="4892040"/>
            <a:ext cx="1252728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90688" y="4956048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Uptrend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836408" y="5367528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20d/50d SMA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9089136" y="4892040"/>
            <a:ext cx="1252728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089136" y="4956048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40.8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9134856" y="5367528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RSI(14) — neutral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10387584" y="4892040"/>
            <a:ext cx="1252728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387584" y="4956048"/>
            <a:ext cx="1252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37.4%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10433304" y="5367528"/>
            <a:ext cx="1161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Volatility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02920" y="5989320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FCF3E0"/>
          </a:solidFill>
          <a:ln/>
        </p:spPr>
      </p:sp>
      <p:sp>
        <p:nvSpPr>
          <p:cNvPr id="24" name="Text 20"/>
          <p:cNvSpPr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tab correctly showed "data unavailable" instead of crashing — no FRED key was set for this run, confirming the graceful-degradation design.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DELTA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repo claimed vs. what existed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60020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26280" y="1600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State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46720" y="1600200"/>
            <a:ext cx="3776472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183880" y="1600200"/>
            <a:ext cx="3502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840480" cy="603504"/>
          </a:xfrm>
          <a:prstGeom prst="rect">
            <a:avLst/>
          </a:prstGeom>
          <a:solidFill>
            <a:srgbClr val="F4F6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0312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657600" cy="603504"/>
          </a:xfrm>
          <a:prstGeom prst="rect">
            <a:avLst/>
          </a:prstGeom>
          <a:solidFill>
            <a:srgbClr val="F4F6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10312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exist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776472" cy="603504"/>
          </a:xfrm>
          <a:prstGeom prst="rect">
            <a:avLst/>
          </a:prstGeom>
          <a:solidFill>
            <a:srgbClr val="F4F6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103120"/>
            <a:ext cx="3502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7-tab app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706624"/>
            <a:ext cx="38404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706624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integration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2706624"/>
            <a:ext cx="3657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706624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only, no code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2706624"/>
            <a:ext cx="37764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706624"/>
            <a:ext cx="3502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fred_loader.py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10128"/>
            <a:ext cx="3840480" cy="603504"/>
          </a:xfrm>
          <a:prstGeom prst="rect">
            <a:avLst/>
          </a:prstGeom>
          <a:solidFill>
            <a:srgbClr val="F4F6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310128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 integration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310128"/>
            <a:ext cx="3657600" cy="603504"/>
          </a:xfrm>
          <a:prstGeom prst="rect">
            <a:avLst/>
          </a:prstGeom>
          <a:solidFill>
            <a:srgbClr val="F4F6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310128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only, no code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3310128"/>
            <a:ext cx="3776472" cy="603504"/>
          </a:xfrm>
          <a:prstGeom prst="rect">
            <a:avLst/>
          </a:prstGeom>
          <a:solidFill>
            <a:srgbClr val="F4F6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3310128"/>
            <a:ext cx="3502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sec_edgar_loader.py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913632"/>
            <a:ext cx="38404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13632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89120" y="3913632"/>
            <a:ext cx="3657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3913632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only, no code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46720" y="3913632"/>
            <a:ext cx="37764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83880" y="3913632"/>
            <a:ext cx="3502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outlier flagging, gap-fill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517136"/>
            <a:ext cx="3840480" cy="603504"/>
          </a:xfrm>
          <a:prstGeom prst="rect">
            <a:avLst/>
          </a:prstGeom>
          <a:solidFill>
            <a:srgbClr val="F4F6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17136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389120" y="4517136"/>
            <a:ext cx="3657600" cy="603504"/>
          </a:xfrm>
          <a:prstGeom prst="rect">
            <a:avLst/>
          </a:prstGeom>
          <a:solidFill>
            <a:srgbClr val="F4F6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4517136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only, no code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46720" y="4517136"/>
            <a:ext cx="3776472" cy="603504"/>
          </a:xfrm>
          <a:prstGeom prst="rect">
            <a:avLst/>
          </a:prstGeom>
          <a:solidFill>
            <a:srgbClr val="F4F6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83880" y="4517136"/>
            <a:ext cx="3502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SMA/RSI/MACD/BB/vol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5120640"/>
            <a:ext cx="38404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120640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key handling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389120" y="5120640"/>
            <a:ext cx="36576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5120640"/>
            <a:ext cx="3383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key never actually read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046720" y="5120640"/>
            <a:ext cx="3776472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83880" y="5120640"/>
            <a:ext cx="35021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+ graceful error handling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from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build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real-time data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5176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Yahoo's free tier is ~15-min delayed. A paid feed (Polygon, IEX, Alpaca) + websockets would enable tick-level updates.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53128" y="1801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pptx_build/icons/comment_dot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202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3128" y="235000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sentiment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53128" y="265176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tone with FinBERT rather than just listing titles, so the Report Agent can quantify bullish/bearish news flow.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16002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56448" y="18013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pptx_build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9202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235000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full-text search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56448" y="265176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efts.sec.gov to search filing text for terms like "guidance" or "impairment", not just recent filings.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538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pptx_build/icons/project_diagram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5760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08736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harness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38912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whether RSI/MACD signals historically preceded favorable moves, instead of only describing current state.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51960" y="33375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53128" y="3538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pptx_build/icons/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65760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53128" y="408736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layer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53128" y="438912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parquet/SQLite warehouse to cut redundant API calls across sessions and track drift over time.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55280" y="33375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4F6FB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56448" y="35387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pptx_build/icons/cog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65760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56448" y="4087368"/>
            <a:ext cx="31181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orchestration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156448" y="4389120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LangGraph routing — e.g. skip the SEC node for non-US tickers — instead of one fixed linear path.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286000"/>
            <a:ext cx="5486400" cy="5486400"/>
          </a:xfrm>
          <a:prstGeom prst="ellipse">
            <a:avLst/>
          </a:prstGeom>
          <a:solidFill>
            <a:srgbClr val="28387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AAI-590 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Investment Research Agent — data collection through multi-agent reporting, in one app.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github.com/unrivalle/AAI-590_project_work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AAI-590-IN2   ·   Saurav Kumar Subudhi   ·   Jasmeet Kaur   ·   Manasa Sai Karaka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2026-08-09T17:44:14Z</dcterms:created>
  <dcterms:modified xsi:type="dcterms:W3CDTF">2026-08-09T17:44:14Z</dcterms:modified>
</cp:coreProperties>
</file>